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Nunito"/>
      <p:regular r:id="rId16"/>
    </p:embeddedFont>
    <p:embeddedFont>
      <p:font typeface="Nunito Bold"/>
      <p:bold r:id="rId17"/>
    </p:embeddedFont>
    <p:embeddedFont>
      <p:font typeface="Nunito Bold Italics"/>
      <p:boldItalic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hyperlink" Target="https://github.com/facebookresearch/faiss" TargetMode="External"/><Relationship Id="rId7" Type="http://schemas.openxmlformats.org/officeDocument/2006/relationships/hyperlink" Target="https://arxiv.org/abs/1908.10084" TargetMode="External"/><Relationship Id="rId6" Type="http://schemas.openxmlformats.org/officeDocument/2006/relationships/hyperlink" Target="https://deepmind.google/technologies/gemini/" TargetMode="External"/><Relationship Id="rId5" Type="http://schemas.openxmlformats.org/officeDocument/2006/relationships/hyperlink" Target="https://arxiv.org/abs/2005.11401" TargetMode="External"/><Relationship Id="rId4" Type="http://schemas.openxmlformats.org/officeDocument/2006/relationships/hyperlink" Target="https://arxiv.org/abs/1810.04805" TargetMode="External"/><Relationship Id="rId3" Type="http://schemas.openxmlformats.org/officeDocument/2006/relationships/hyperlink" Target="https://arxiv.org/abs/1406.2661" TargetMode="External"/><Relationship Id="rId2" Type="http://schemas.openxmlformats.org/officeDocument/2006/relationships/hyperlink" Target="https://aclanthology.org/2021.findings-emnlp.40/" TargetMode="External"/><Relationship Id="rId1" Type="http://schemas.openxmlformats.org/officeDocument/2006/relationships/hyperlink" Target="https://ceur-ws.org/Vol-3740/paper-225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4870" y="1631315"/>
            <a:ext cx="13125450" cy="3023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790"/>
              </a:lnSpc>
            </a:pPr>
            <a:r>
              <a:rPr lang="en-US" sz="10345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PROJECT PRESENTATION</a:t>
            </a:r>
            <a:endParaRPr lang="en-US" sz="10345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2134835" y="4939032"/>
            <a:ext cx="8115300" cy="838151"/>
            <a:chOff x="0" y="0"/>
            <a:chExt cx="2137363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220747"/>
            </a:xfrm>
            <a:custGeom>
              <a:avLst/>
              <a:gdLst/>
              <a:ahLst/>
              <a:cxnLst/>
              <a:rect l="l" t="t" r="r" b="b"/>
              <a:pathLst>
                <a:path w="2137363" h="220747">
                  <a:moveTo>
                    <a:pt x="95399" y="0"/>
                  </a:moveTo>
                  <a:lnTo>
                    <a:pt x="2041964" y="0"/>
                  </a:lnTo>
                  <a:cubicBezTo>
                    <a:pt x="2067265" y="0"/>
                    <a:pt x="2091530" y="10051"/>
                    <a:pt x="2109421" y="27942"/>
                  </a:cubicBezTo>
                  <a:cubicBezTo>
                    <a:pt x="2127312" y="45833"/>
                    <a:pt x="2137363" y="70098"/>
                    <a:pt x="2137363" y="95399"/>
                  </a:cubicBezTo>
                  <a:lnTo>
                    <a:pt x="2137363" y="125348"/>
                  </a:lnTo>
                  <a:cubicBezTo>
                    <a:pt x="2137363" y="178036"/>
                    <a:pt x="2094651" y="220747"/>
                    <a:pt x="2041964" y="220747"/>
                  </a:cubicBezTo>
                  <a:lnTo>
                    <a:pt x="95399" y="220747"/>
                  </a:lnTo>
                  <a:cubicBezTo>
                    <a:pt x="42712" y="220747"/>
                    <a:pt x="0" y="178036"/>
                    <a:pt x="0" y="125348"/>
                  </a:cubicBezTo>
                  <a:lnTo>
                    <a:pt x="0" y="95399"/>
                  </a:lnTo>
                  <a:cubicBezTo>
                    <a:pt x="0" y="42712"/>
                    <a:pt x="42712" y="0"/>
                    <a:pt x="95399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137363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52853" y="5045874"/>
            <a:ext cx="7479263" cy="55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ICS1662-Natural Language Processing</a:t>
            </a:r>
            <a:endParaRPr lang="en-US" sz="323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800102"/>
            <a:ext cx="2787021" cy="267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by: 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 Ashwin Balagi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Gopika Ganesan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Rajesh IS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Siddharth M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Tarun Suresh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61000" y="7257302"/>
            <a:ext cx="2875512" cy="223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3122237001006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3122237001013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3122237001042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3122237001049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560"/>
              </a:lnSpc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3122237001055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PROBLEM STATEMENT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52294" y="5994756"/>
            <a:ext cx="7885593" cy="2519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5"/>
              </a:lnSpc>
            </a:pPr>
            <a:r>
              <a:rPr lang="en-US" sz="289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generate text based on descriptions of human-authored texts of various genres such that it is indistinguishable from the human-authored texts.</a:t>
            </a:r>
            <a:endParaRPr lang="en-US" sz="289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952294" y="2766036"/>
            <a:ext cx="4573234" cy="1120365"/>
            <a:chOff x="0" y="0"/>
            <a:chExt cx="901072" cy="220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1072" cy="220747"/>
            </a:xfrm>
            <a:custGeom>
              <a:avLst/>
              <a:gdLst/>
              <a:ahLst/>
              <a:cxnLst/>
              <a:rect l="l" t="t" r="r" b="b"/>
              <a:pathLst>
                <a:path w="901072" h="220747">
                  <a:moveTo>
                    <a:pt x="110374" y="0"/>
                  </a:moveTo>
                  <a:lnTo>
                    <a:pt x="790698" y="0"/>
                  </a:lnTo>
                  <a:cubicBezTo>
                    <a:pt x="819971" y="0"/>
                    <a:pt x="848045" y="11629"/>
                    <a:pt x="868745" y="32328"/>
                  </a:cubicBezTo>
                  <a:cubicBezTo>
                    <a:pt x="889444" y="53027"/>
                    <a:pt x="901072" y="81101"/>
                    <a:pt x="901072" y="110374"/>
                  </a:cubicBezTo>
                  <a:lnTo>
                    <a:pt x="901072" y="110374"/>
                  </a:lnTo>
                  <a:cubicBezTo>
                    <a:pt x="901072" y="139647"/>
                    <a:pt x="889444" y="167721"/>
                    <a:pt x="868745" y="188420"/>
                  </a:cubicBezTo>
                  <a:cubicBezTo>
                    <a:pt x="848045" y="209119"/>
                    <a:pt x="819971" y="220747"/>
                    <a:pt x="790698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901072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95722" y="2912253"/>
            <a:ext cx="6754829" cy="73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432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Voight-Kampff</a:t>
            </a:r>
            <a:endParaRPr lang="en-US" sz="432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2294" y="4333673"/>
            <a:ext cx="8582579" cy="128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</a:pPr>
            <a:r>
              <a:rPr lang="en-US" sz="3665" b="1" i="1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Can your LLM fool a classifier to believe it is human?</a:t>
            </a:r>
            <a:endParaRPr lang="en-US" sz="3665" b="1" i="1">
              <a:solidFill>
                <a:srgbClr val="303870"/>
              </a:solidFill>
              <a:latin typeface="Nunito Bold Italics"/>
              <a:ea typeface="Nunito Bold Italics"/>
              <a:cs typeface="Nunito Bold Italics"/>
              <a:sym typeface="Nunito Bold Itali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EXISTING WORKS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66297" y="5153696"/>
            <a:ext cx="8441695" cy="1822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Various detection approaches have been explored, including linear classifiers, perplexity-based methods, and zero-shot detection systems, with top-performing models achieving high but imperfect accuracy across diverse test conditions.</a:t>
            </a:r>
            <a:endParaRPr lang="en-US" sz="21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14400" y="3981936"/>
            <a:ext cx="7264894" cy="838151"/>
            <a:chOff x="0" y="0"/>
            <a:chExt cx="1913388" cy="220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49669" y="4088778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Explorations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9425441" y="3981936"/>
            <a:ext cx="7264894" cy="838151"/>
            <a:chOff x="0" y="0"/>
            <a:chExt cx="1913388" cy="2207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60710" y="4088778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Limitations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94626" y="5153696"/>
            <a:ext cx="7721324" cy="135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Current systems are robust but have multiple limitations which are highlighted in the evaluation phase through usage of short texts, obfuscation techniques and multilingual variations.</a:t>
            </a:r>
            <a:endParaRPr lang="en-US" sz="21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CHALLENGES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3494" y="4482531"/>
            <a:ext cx="6736216" cy="96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Detection models are not universally robust and can fail under situations like language switching.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487620" y="3639897"/>
            <a:ext cx="5967964" cy="688524"/>
            <a:chOff x="0" y="0"/>
            <a:chExt cx="1913388" cy="220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10374" y="0"/>
                  </a:moveTo>
                  <a:lnTo>
                    <a:pt x="1803014" y="0"/>
                  </a:lnTo>
                  <a:cubicBezTo>
                    <a:pt x="1832287" y="0"/>
                    <a:pt x="1860361" y="11629"/>
                    <a:pt x="1881060" y="32328"/>
                  </a:cubicBezTo>
                  <a:cubicBezTo>
                    <a:pt x="1901759" y="53027"/>
                    <a:pt x="1913388" y="81101"/>
                    <a:pt x="1913388" y="110374"/>
                  </a:cubicBezTo>
                  <a:lnTo>
                    <a:pt x="1913388" y="110374"/>
                  </a:lnTo>
                  <a:cubicBezTo>
                    <a:pt x="1913388" y="139647"/>
                    <a:pt x="1901759" y="167721"/>
                    <a:pt x="1881060" y="188420"/>
                  </a:cubicBezTo>
                  <a:cubicBezTo>
                    <a:pt x="1860361" y="209119"/>
                    <a:pt x="1832287" y="220747"/>
                    <a:pt x="180301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63037" y="3725287"/>
            <a:ext cx="5417130" cy="45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5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Non-Universal Models</a:t>
            </a:r>
            <a:endParaRPr lang="en-US" sz="2655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38461" y="4482531"/>
            <a:ext cx="7208870" cy="1465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Variety of datasets and writing styles introduces significant generalization challenges, as models trained on one domain may not perform well on others.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9758914" y="3639897"/>
            <a:ext cx="5967964" cy="688524"/>
            <a:chOff x="0" y="0"/>
            <a:chExt cx="1913388" cy="220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10374" y="0"/>
                  </a:moveTo>
                  <a:lnTo>
                    <a:pt x="1803014" y="0"/>
                  </a:lnTo>
                  <a:cubicBezTo>
                    <a:pt x="1832287" y="0"/>
                    <a:pt x="1860361" y="11629"/>
                    <a:pt x="1881060" y="32328"/>
                  </a:cubicBezTo>
                  <a:cubicBezTo>
                    <a:pt x="1901759" y="53027"/>
                    <a:pt x="1913388" y="81101"/>
                    <a:pt x="1913388" y="110374"/>
                  </a:cubicBezTo>
                  <a:lnTo>
                    <a:pt x="1913388" y="110374"/>
                  </a:lnTo>
                  <a:cubicBezTo>
                    <a:pt x="1913388" y="139647"/>
                    <a:pt x="1901759" y="167721"/>
                    <a:pt x="1881060" y="188420"/>
                  </a:cubicBezTo>
                  <a:cubicBezTo>
                    <a:pt x="1860361" y="209119"/>
                    <a:pt x="1832287" y="220747"/>
                    <a:pt x="180301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034331" y="3725287"/>
            <a:ext cx="5417130" cy="45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5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Variety</a:t>
            </a:r>
            <a:endParaRPr lang="en-US" sz="2655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64928" y="7776139"/>
            <a:ext cx="6213349" cy="96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LLMs often exhibit unnatural probability patterns which detectors can exploit.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449520" y="6933504"/>
            <a:ext cx="5967964" cy="688524"/>
            <a:chOff x="0" y="0"/>
            <a:chExt cx="1913388" cy="2207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10374" y="0"/>
                  </a:moveTo>
                  <a:lnTo>
                    <a:pt x="1803014" y="0"/>
                  </a:lnTo>
                  <a:cubicBezTo>
                    <a:pt x="1832287" y="0"/>
                    <a:pt x="1860361" y="11629"/>
                    <a:pt x="1881060" y="32328"/>
                  </a:cubicBezTo>
                  <a:cubicBezTo>
                    <a:pt x="1901759" y="53027"/>
                    <a:pt x="1913388" y="81101"/>
                    <a:pt x="1913388" y="110374"/>
                  </a:cubicBezTo>
                  <a:lnTo>
                    <a:pt x="1913388" y="110374"/>
                  </a:lnTo>
                  <a:cubicBezTo>
                    <a:pt x="1913388" y="139647"/>
                    <a:pt x="1901759" y="167721"/>
                    <a:pt x="1881060" y="188420"/>
                  </a:cubicBezTo>
                  <a:cubicBezTo>
                    <a:pt x="1860361" y="209119"/>
                    <a:pt x="1832287" y="220747"/>
                    <a:pt x="180301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24937" y="7018895"/>
            <a:ext cx="5417130" cy="45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5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Statistically Detectable</a:t>
            </a:r>
            <a:endParaRPr lang="en-US" sz="2655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1198" y="7774428"/>
            <a:ext cx="7076134" cy="96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Human writing contains inconsistencies and stylistic variations which are missing in generated text.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9758914" y="6933504"/>
            <a:ext cx="5967964" cy="688524"/>
            <a:chOff x="0" y="0"/>
            <a:chExt cx="1913388" cy="2207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10374" y="0"/>
                  </a:moveTo>
                  <a:lnTo>
                    <a:pt x="1803014" y="0"/>
                  </a:lnTo>
                  <a:cubicBezTo>
                    <a:pt x="1832287" y="0"/>
                    <a:pt x="1860361" y="11629"/>
                    <a:pt x="1881060" y="32328"/>
                  </a:cubicBezTo>
                  <a:cubicBezTo>
                    <a:pt x="1901759" y="53027"/>
                    <a:pt x="1913388" y="81101"/>
                    <a:pt x="1913388" y="110374"/>
                  </a:cubicBezTo>
                  <a:lnTo>
                    <a:pt x="1913388" y="110374"/>
                  </a:lnTo>
                  <a:cubicBezTo>
                    <a:pt x="1913388" y="139647"/>
                    <a:pt x="1901759" y="167721"/>
                    <a:pt x="1881060" y="188420"/>
                  </a:cubicBezTo>
                  <a:cubicBezTo>
                    <a:pt x="1860361" y="209119"/>
                    <a:pt x="1832287" y="220747"/>
                    <a:pt x="1803014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034331" y="7018895"/>
            <a:ext cx="5417130" cy="45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5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Lack of Human-Like Irregularities</a:t>
            </a:r>
            <a:endParaRPr lang="en-US" sz="2655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PROPOSED WORK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1065" y="3879503"/>
            <a:ext cx="7496175" cy="197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Generate multiple responses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Use scoring function (classifier / heuristic)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Iteratively refine and 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elect most human-like output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045"/>
              </a:lnSpc>
            </a:pPr>
          </a:p>
        </p:txBody>
      </p:sp>
      <p:grpSp>
        <p:nvGrpSpPr>
          <p:cNvPr id="7" name="Group 7"/>
          <p:cNvGrpSpPr/>
          <p:nvPr/>
        </p:nvGrpSpPr>
        <p:grpSpPr>
          <a:xfrm rot="0">
            <a:off x="693431" y="2808402"/>
            <a:ext cx="7264894" cy="838151"/>
            <a:chOff x="0" y="0"/>
            <a:chExt cx="1913388" cy="220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915244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Adversarial Search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8808731" y="2808402"/>
            <a:ext cx="7264894" cy="838151"/>
            <a:chOff x="0" y="0"/>
            <a:chExt cx="1913388" cy="2207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0" y="2915244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Back Translation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693431" y="6196778"/>
            <a:ext cx="7264894" cy="838151"/>
            <a:chOff x="0" y="0"/>
            <a:chExt cx="1913388" cy="2207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6303620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RAG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8808731" y="6196778"/>
            <a:ext cx="7264894" cy="838151"/>
            <a:chOff x="0" y="0"/>
            <a:chExt cx="1913388" cy="2207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13388" cy="220747"/>
            </a:xfrm>
            <a:custGeom>
              <a:avLst/>
              <a:gdLst/>
              <a:ahLst/>
              <a:cxnLst/>
              <a:rect l="l" t="t" r="r" b="b"/>
              <a:pathLst>
                <a:path w="1913388" h="220747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144000" y="6303620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323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GAN</a:t>
            </a:r>
            <a:endParaRPr lang="en-US" sz="323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76365" y="3879503"/>
            <a:ext cx="7659674" cy="197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Convert text: Engli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sh → Hindi → English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elps improve natural phrasing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Reduces robotic patterns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045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861065" y="7282579"/>
            <a:ext cx="6929625" cy="247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Retrieve human-written references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Inj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ect into generation process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Improves context richness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Provides r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eal-world tone and phrasing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045"/>
              </a:lnSpc>
            </a:pPr>
          </a:p>
        </p:txBody>
      </p:sp>
      <p:sp>
        <p:nvSpPr>
          <p:cNvPr id="25" name="TextBox 25"/>
          <p:cNvSpPr txBox="1"/>
          <p:nvPr/>
        </p:nvSpPr>
        <p:spPr>
          <a:xfrm>
            <a:off x="8790637" y="7282579"/>
            <a:ext cx="7903023" cy="1970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Generator → produces AI text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scriminator → classifies Human vs AI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96570" lvl="1" indent="-248285" algn="l">
              <a:lnSpc>
                <a:spcPts val="404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Training objective: 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</a:t>
            </a:r>
            <a:r>
              <a:rPr lang="en-US" sz="23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enerator learns to fool discriminator</a:t>
            </a:r>
            <a:endParaRPr lang="en-US" sz="23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045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DATASET DESCRIPTION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918586"/>
            <a:ext cx="12164353" cy="633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260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Source: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Hugging Face (Eloquent/Voight-Kampff)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  <a:r>
              <a:rPr lang="en-US" sz="260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Purpose: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Evaluate AI-generated long-form writing and reasoning ability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  <a:r>
              <a:rPr lang="en-US" sz="260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Structure:</a:t>
            </a:r>
            <a:endParaRPr lang="en-US" sz="260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language → Input language (e.g., English)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date → Dataset year (2024–2026)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type → Dataset split (dev/test)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prompt → Instruction for text generation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topics → List of subtopics with: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122680" lvl="2" indent="-374015" algn="l">
              <a:lnSpc>
                <a:spcPts val="4575"/>
              </a:lnSpc>
              <a:buFont typeface="Arial" panose="020B0604020202020204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Genre &amp; writing style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122680" lvl="2" indent="-374015" algn="l">
              <a:lnSpc>
                <a:spcPts val="4575"/>
              </a:lnSpc>
              <a:buFont typeface="Arial" panose="020B0604020202020204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Content points to include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065" y="321945"/>
            <a:ext cx="15302865" cy="1150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RESULTS &amp; DISCUSSION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90369" y="1391707"/>
            <a:ext cx="13987339" cy="8242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Text Generation: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1" indent="-269875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Successfully generated diverse, task-specific outputs across multiple genres while adhering to prompt constraints.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400"/>
              </a:lnSpc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Adversarial Search: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1" indent="-269875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Iterative refinement drastically reduced detectability scores from ~0.999 to as low as ~0.0009 (Likely Human).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400"/>
              </a:lnSpc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RAG (Retrieval-Augmented Generation):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1" indent="-269875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Context grounding improved human-likeness, reducing detectability from 0.0269 to 0.0049 (Likely Human).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400"/>
              </a:lnSpc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Back-Translation: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1" indent="-269875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Introduced linguistic variability that reduced repetitive patterns and improved robustness against detection(Score : 1.5089 - Likely Human).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400"/>
              </a:lnSpc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GAN-based Approach: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39750" lvl="1" indent="-269875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Progressive refinement enhanced stylistic richness and naturalness, producing more human-like text without explicit detector guidance (Score : 1.578 - Likely Human).</a:t>
            </a:r>
            <a:endParaRPr lang="en-US" sz="25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047083" y="9662583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INFERENCES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14428" y="2101760"/>
            <a:ext cx="15672686" cy="740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075" lvl="1" indent="-300355" algn="l">
              <a:lnSpc>
                <a:spcPts val="4890"/>
              </a:lnSpc>
              <a:buFont typeface="Arial" panose="020B0604020202020204"/>
              <a:buChar char="•"/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single method consistently outperforms others across all scenarios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0075" lvl="1" indent="-300355" algn="l">
              <a:lnSpc>
                <a:spcPts val="4890"/>
              </a:lnSpc>
              <a:buFont typeface="Arial" panose="020B0604020202020204"/>
              <a:buChar char="•"/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Diff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erent techniques excel in different aspects: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Adversarial search: lowest detectability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→ RAG: better contextual grounding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→ GAN &amp; back-translation: improved stylistic variation and refined recursively to achieve best  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results.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0075" lvl="1" indent="-300355" algn="l">
              <a:lnSpc>
                <a:spcPts val="4890"/>
              </a:lnSpc>
              <a:buFont typeface="Arial" panose="020B0604020202020204"/>
              <a:buChar char="•"/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Key Insight: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Human-likeness ≠ correctness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0075" lvl="1" indent="-300355" algn="l">
              <a:lnSpc>
                <a:spcPts val="4890"/>
              </a:lnSpc>
              <a:buFont typeface="Arial" panose="020B0604020202020204"/>
              <a:buChar char="•"/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It depends on: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→ Writing s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tyle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Linguistic v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ariation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</a:t>
            </a:r>
            <a:r>
              <a:rPr lang="en-US" sz="278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Subtle imperfections</a:t>
            </a:r>
            <a:endParaRPr lang="en-US" sz="278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89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8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CONCLUSION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11908" y="2918586"/>
            <a:ext cx="8757458" cy="633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Successfully explored multiple strategies to enhance human-like text generation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</a:p>
          <a:p>
            <a:pPr algn="l">
              <a:lnSpc>
                <a:spcPts val="4575"/>
              </a:lnSpc>
            </a:pPr>
            <a:r>
              <a:rPr lang="en-US" sz="260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Findings:</a:t>
            </a:r>
            <a:endParaRPr lang="en-US" sz="260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Adversarial and RAG methods are most effective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GAN approach has potential but needs tuning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</a:p>
          <a:p>
            <a:pPr algn="l">
              <a:lnSpc>
                <a:spcPts val="4575"/>
              </a:lnSpc>
            </a:pPr>
            <a:r>
              <a:rPr lang="en-US" sz="2600" b="1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Final Takeaway:</a:t>
            </a:r>
            <a:endParaRPr lang="en-US" sz="2600" b="1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Achieving human-like AI text requires multi-step refinement, not just generation</a:t>
            </a:r>
            <a:endParaRPr lang="en-US" sz="260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9047083" y="9562352"/>
            <a:ext cx="193834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9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0369" y="674494"/>
            <a:ext cx="14000536" cy="136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75"/>
              </a:lnSpc>
            </a:pPr>
            <a:r>
              <a:rPr lang="en-US" sz="7870" b="1">
                <a:solidFill>
                  <a:srgbClr val="303870"/>
                </a:solidFill>
                <a:latin typeface="Agrandir Wide Bold" panose="00000805000000000000"/>
                <a:ea typeface="Agrandir Wide Bold" panose="00000805000000000000"/>
                <a:cs typeface="Agrandir Wide Bold" panose="00000805000000000000"/>
                <a:sym typeface="Agrandir Wide Bold" panose="00000805000000000000"/>
              </a:rPr>
              <a:t>REFERENCES</a:t>
            </a:r>
            <a:endParaRPr lang="en-US" sz="7870" b="1">
              <a:solidFill>
                <a:srgbClr val="303870"/>
              </a:solidFill>
              <a:latin typeface="Agrandir Wide Bold" panose="00000805000000000000"/>
              <a:ea typeface="Agrandir Wide Bold" panose="00000805000000000000"/>
              <a:cs typeface="Agrandir Wide Bold" panose="00000805000000000000"/>
              <a:sym typeface="Agrandir Wide Bold" panose="00000805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1094" y="1991782"/>
            <a:ext cx="15987937" cy="692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Voight-Kampff Generated Text Detection Task (CLEF ELOQUENT)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" tooltip="https://ceur-ws.org/Vol-3740/paper-225.pdf?utm_source=chatgpt.com"/>
              </a:rPr>
              <a:t>https://ceur-ws.org/Vol-3740/paper-225.pdf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TuringBench: A Benchmark for Turing Test in Neural Text Generation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2" tooltip="https://aclanthology.org/2021.findings-emnlp.40/"/>
              </a:rPr>
              <a:t>https://aclanthology.org/2021.findings-emnlp.40/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Generative Adversarial Networks (Goodfellow et al., 2014)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3" tooltip="https://arxiv.org/abs/1406.2661"/>
              </a:rPr>
              <a:t>https://arxiv.org/abs/1406.2661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BERT: Pre-training of Deep Bidirectional Transformers (Devlin et al., 2019)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4" tooltip="https://arxiv.org/abs/1810.04805"/>
              </a:rPr>
              <a:t>https://arxiv.org/abs/1810.04805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Retrieval-Augmented Generation (Lewis et al., 2020)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5" tooltip="https://arxiv.org/abs/2005.11401"/>
              </a:rPr>
              <a:t>https://arxiv.org/abs/2005.11401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Gemini: Multimodal Models (Google DeepMind)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6" tooltip="https://deepmind.google/technologies/gemini/"/>
              </a:rPr>
              <a:t>https://deepmind.google/technologies/gemini/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Sentence-BERT: Sentence Embeddings (Reimers &amp; Gurevych, 2019)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7" tooltip="https://arxiv.org/abs/1908.10084"/>
              </a:rPr>
              <a:t>https://arxiv.org/abs/1908.10084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1340" lvl="1" indent="-28067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FAISS: Facebook AI Similarity Search </a:t>
            </a:r>
            <a:r>
              <a:rPr lang="en-US" sz="2600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8" tooltip="https://github.com/facebookresearch/faiss"/>
              </a:rPr>
              <a:t>https://github.com/facebookresearch/faiss</a:t>
            </a:r>
            <a:endParaRPr lang="en-US" sz="2600" u="sng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575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8950166" y="9562352"/>
            <a:ext cx="387667" cy="4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10</a:t>
            </a:r>
            <a:endParaRPr lang="en-US" sz="2545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4606</Words>
  <Application>WPS Presentation</Application>
  <PresentationFormat>On-screen Show (4:3)</PresentationFormat>
  <Paragraphs>170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Agrandir Wide Bold</vt:lpstr>
      <vt:lpstr>Nunito</vt:lpstr>
      <vt:lpstr>Nunito Bold</vt:lpstr>
      <vt:lpstr>Nunito Bold Italics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NLP_Project_PPT</dc:title>
  <dc:creator/>
  <cp:lastModifiedBy>Administrator</cp:lastModifiedBy>
  <cp:revision>2</cp:revision>
  <dcterms:created xsi:type="dcterms:W3CDTF">2006-08-16T00:00:00Z</dcterms:created>
  <dcterms:modified xsi:type="dcterms:W3CDTF">2026-04-10T03:11:58Z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FA5661B16385418C90DC02894495C643_12</vt:lpwstr>
  </property>
  <property fmtid="{D5CDD505-2E9C-101B-9397-08002B2CF9AE}" pid="3" name="KSOProductBuildVer">
    <vt:lpwstr>1033-12.1.0.25242</vt:lpwstr>
  </property>
</Properties>
</file>